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181447" y="1371600"/>
            <a:ext cx="1828800" cy="1828800"/>
          </a:xfrm>
          <a:prstGeom prst="round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362895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0" b="1">
                <a:solidFill>
                  <a:srgbClr val="FFFFFF"/>
                </a:solidFill>
              </a:defRPr>
            </a:pPr>
            <a:r>
              <a:t>OpenClaw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029200"/>
            <a:ext cx="10362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888888"/>
                </a:solidFill>
              </a:defRPr>
            </a:pPr>
            <a:r>
              <a:t>改变各行各业的时代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628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400" b="1">
                <a:solidFill>
                  <a:srgbClr val="FFFFFF"/>
                </a:solidFill>
              </a:defRPr>
            </a:pPr>
            <a:r>
              <a:t>什么是 OpenClaw？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9448495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2800">
                <a:solidFill>
                  <a:srgbClr val="C8C8C8"/>
                </a:solidFill>
              </a:defRPr>
            </a:pPr>
            <a:r>
              <a:t>• AI 智能体平台</a:t>
            </a:r>
          </a:p>
          <a:p>
            <a:pPr>
              <a:spcAft>
                <a:spcPts val="2000"/>
              </a:spcAft>
              <a:defRPr sz="2800">
                <a:solidFill>
                  <a:srgbClr val="C8C8C8"/>
                </a:solidFill>
              </a:defRPr>
            </a:pPr>
            <a:r>
              <a:t>• 让每个人都能拥有自己的 AI 助手团队</a:t>
            </a:r>
          </a:p>
          <a:p>
            <a:pPr>
              <a:spcAft>
                <a:spcPts val="2000"/>
              </a:spcAft>
              <a:defRPr sz="2800">
                <a:solidFill>
                  <a:srgbClr val="C8C8C8"/>
                </a:solidFill>
              </a:defRPr>
            </a:pPr>
            <a:r>
              <a:t>• 不是单一工具，而是一个生态系统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36289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核心能力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2692298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0" b="1">
                <a:solidFill>
                  <a:srgbClr val="667EEA"/>
                </a:solidFill>
              </a:defRPr>
            </a:pPr>
            <a:r>
              <a:t>7+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840480"/>
            <a:ext cx="2692298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888888"/>
                </a:solidFill>
              </a:defRPr>
            </a:pPr>
            <a:r>
              <a:t>专业 Agent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21098" y="2286000"/>
            <a:ext cx="2692298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0" b="1">
                <a:solidFill>
                  <a:srgbClr val="667EEA"/>
                </a:solidFill>
              </a:defRPr>
            </a:pPr>
            <a:r>
              <a:t>38+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21098" y="3840480"/>
            <a:ext cx="2692298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888888"/>
                </a:solidFill>
              </a:defRPr>
            </a:pPr>
            <a:r>
              <a:t>专业技能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70596" y="2286000"/>
            <a:ext cx="2692298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0" b="1">
                <a:solidFill>
                  <a:srgbClr val="667EEA"/>
                </a:solidFill>
              </a:defRPr>
            </a:pPr>
            <a:r>
              <a:t>24/7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70596" y="3840480"/>
            <a:ext cx="2692298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888888"/>
                </a:solidFill>
              </a:defRPr>
            </a:pPr>
            <a:r>
              <a:t>全天候工作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"/>
            <a:ext cx="10362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FFFFFF"/>
                </a:solidFill>
              </a:defRPr>
            </a:pPr>
            <a:r>
              <a:t>正在改变的行业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371600"/>
            <a:ext cx="10362895" cy="1097280"/>
          </a:xfrm>
          <a:prstGeom prst="roundRect">
            <a:avLst/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1645920"/>
            <a:ext cx="914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/>
            </a:pPr>
            <a:r>
              <a:t>📊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60320" y="1645920"/>
            <a:ext cx="3657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金融分析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73736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667EEA"/>
                </a:solidFill>
              </a:defRPr>
            </a:pPr>
            <a:r>
              <a:t>自动化报告生成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2651760"/>
            <a:ext cx="10362895" cy="1097280"/>
          </a:xfrm>
          <a:prstGeom prst="roundRect">
            <a:avLst/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926079"/>
            <a:ext cx="914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/>
            </a:pPr>
            <a:r>
              <a:t>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60320" y="2926079"/>
            <a:ext cx="3657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科技媒体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301752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667EEA"/>
                </a:solidFill>
              </a:defRPr>
            </a:pPr>
            <a:r>
              <a:t>内容自动化生产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3931920"/>
            <a:ext cx="10362895" cy="1097280"/>
          </a:xfrm>
          <a:prstGeom prst="roundRect">
            <a:avLst/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71600" y="4206240"/>
            <a:ext cx="914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/>
            </a:pPr>
            <a:r>
              <a:t>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60320" y="4206240"/>
            <a:ext cx="3657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房地产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429768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667EEA"/>
                </a:solidFill>
              </a:defRPr>
            </a:pPr>
            <a:r>
              <a:t>智能市场分析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5212079"/>
            <a:ext cx="10362895" cy="1097280"/>
          </a:xfrm>
          <a:prstGeom prst="roundRect">
            <a:avLst/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71600" y="5486399"/>
            <a:ext cx="914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/>
            </a:pPr>
            <a:r>
              <a:t>🤖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60320" y="5486399"/>
            <a:ext cx="3657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机器人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557784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667EEA"/>
                </a:solidFill>
              </a:defRPr>
            </a:pPr>
            <a:r>
              <a:t>行业研究自动化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4400" y="6492240"/>
            <a:ext cx="10362895" cy="1097280"/>
          </a:xfrm>
          <a:prstGeom prst="roundRect">
            <a:avLst/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71600" y="6766559"/>
            <a:ext cx="914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/>
            </a:pPr>
            <a:r>
              <a:t>💊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60320" y="6766559"/>
            <a:ext cx="3657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医疗健康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685800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667EEA"/>
                </a:solidFill>
              </a:defRPr>
            </a:pPr>
            <a:r>
              <a:t>数据智能分析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628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400" b="1">
                <a:solidFill>
                  <a:srgbClr val="FFFFFF"/>
                </a:solidFill>
              </a:defRPr>
            </a:pPr>
            <a:r>
              <a:t>工作方式的革命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9448495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2800">
                <a:solidFill>
                  <a:srgbClr val="C8C8C8"/>
                </a:solidFill>
              </a:defRPr>
            </a:pPr>
            <a:r>
              <a:t>• 过去：人类手动收集数据 → 分析 → 撰写报告</a:t>
            </a:r>
          </a:p>
          <a:p>
            <a:pPr>
              <a:spcAft>
                <a:spcPts val="2000"/>
              </a:spcAft>
              <a:defRPr sz="2800">
                <a:solidFill>
                  <a:srgbClr val="C8C8C8"/>
                </a:solidFill>
              </a:defRPr>
            </a:pPr>
            <a:r>
              <a:t>• 现在：OpenClaw 自动完成 90% 的工作</a:t>
            </a:r>
          </a:p>
          <a:p>
            <a:pPr>
              <a:spcAft>
                <a:spcPts val="2000"/>
              </a:spcAft>
              <a:defRPr sz="2800">
                <a:solidFill>
                  <a:srgbClr val="C8C8C8"/>
                </a:solidFill>
              </a:defRPr>
            </a:pPr>
            <a:r>
              <a:t>• 人类专注于决策和创新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628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400" b="1">
                <a:solidFill>
                  <a:srgbClr val="FFFFFF"/>
                </a:solidFill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9448495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2800">
                <a:solidFill>
                  <a:srgbClr val="C8C8C8"/>
                </a:solidFill>
              </a:defRPr>
            </a:pPr>
            <a:r>
              <a:t>• "OpenClaw 不是要取代人类，</a:t>
            </a:r>
          </a:p>
          <a:p>
            <a:pPr>
              <a:spcAft>
                <a:spcPts val="2000"/>
              </a:spcAft>
              <a:defRPr sz="2800">
                <a:solidFill>
                  <a:srgbClr val="C8C8C8"/>
                </a:solidFill>
              </a:defRPr>
            </a:pPr>
            <a:r>
              <a:t>• 而是要解放人类的创造力。"</a:t>
            </a:r>
          </a:p>
          <a:p>
            <a:pPr>
              <a:spcAft>
                <a:spcPts val="2000"/>
              </a:spcAft>
              <a:defRPr sz="2800">
                <a:solidFill>
                  <a:srgbClr val="C8C8C8"/>
                </a:solidFill>
              </a:defRPr>
            </a:pPr>
            <a:r>
              <a:t>• </a:t>
            </a:r>
          </a:p>
          <a:p>
            <a:pPr>
              <a:spcAft>
                <a:spcPts val="2000"/>
              </a:spcAft>
              <a:defRPr sz="2800">
                <a:solidFill>
                  <a:srgbClr val="C8C8C8"/>
                </a:solidFill>
              </a:defRPr>
            </a:pPr>
            <a:r>
              <a:t>• — AI 时代的工作哲学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181447" y="1371600"/>
            <a:ext cx="1828800" cy="1828800"/>
          </a:xfrm>
          <a:prstGeom prst="round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362895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0" b="1">
                <a:solidFill>
                  <a:srgbClr val="FFFFFF"/>
                </a:solidFill>
              </a:defRPr>
            </a:pPr>
            <a:r>
              <a:t>OpenClaw 时代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029200"/>
            <a:ext cx="10362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888888"/>
                </a:solidFill>
              </a:defRPr>
            </a:pPr>
            <a:r>
              <a:t>已经到来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